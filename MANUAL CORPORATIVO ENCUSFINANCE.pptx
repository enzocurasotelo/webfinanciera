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6" r:id="rId14"/>
    <p:sldId id="267" r:id="rId15"/>
    <p:sldId id="268" r:id="rId16"/>
    <p:sldId id="271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364655"/>
    <a:srgbClr val="003B58"/>
    <a:srgbClr val="00486C"/>
    <a:srgbClr val="005F8E"/>
    <a:srgbClr val="006699"/>
    <a:srgbClr val="2C7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68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01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714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17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34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329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327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655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736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286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4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8B550FB-9377-444B-BB6D-AC7C989BA4C9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A696D48-FCAE-4934-8983-558EE906ED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6804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27443-5B89-FF09-BE5E-6F8D0BA8A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3058" y="1785440"/>
            <a:ext cx="8385884" cy="1295400"/>
          </a:xfrm>
        </p:spPr>
        <p:txBody>
          <a:bodyPr>
            <a:noAutofit/>
          </a:bodyPr>
          <a:lstStyle/>
          <a:p>
            <a:r>
              <a:rPr lang="es-ES" sz="7000" dirty="0">
                <a:latin typeface="Impact" panose="020B0806030902050204" pitchFamily="34" charset="0"/>
              </a:rPr>
              <a:t>MANUAL CORPORATIVO</a:t>
            </a:r>
          </a:p>
        </p:txBody>
      </p:sp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B69F548-3CAE-3F23-87EB-C42047BF2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6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2012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INDICE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305C7A-0161-58F2-B9F0-02A99F6862AB}"/>
              </a:ext>
            </a:extLst>
          </p:cNvPr>
          <p:cNvSpPr txBox="1"/>
          <p:nvPr/>
        </p:nvSpPr>
        <p:spPr>
          <a:xfrm>
            <a:off x="328473" y="1332441"/>
            <a:ext cx="477000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dirty="0"/>
              <a:t>INTRODUCCI</a:t>
            </a:r>
            <a:r>
              <a:rPr lang="es-AR" dirty="0"/>
              <a:t>ÓN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dirty="0"/>
              <a:t>HISTORIA Y ORIGEN DEL NOMBRE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dirty="0"/>
              <a:t>IDENTIDAD DE MARCA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dirty="0"/>
              <a:t>PERSONALIDAD DE MARCA</a:t>
            </a:r>
          </a:p>
          <a:p>
            <a:pPr>
              <a:lnSpc>
                <a:spcPct val="150000"/>
              </a:lnSpc>
            </a:pPr>
            <a:r>
              <a:rPr lang="es-MX" dirty="0"/>
              <a:t>4.1 PERSONALIDAD DE MARCA</a:t>
            </a:r>
          </a:p>
          <a:p>
            <a:pPr>
              <a:lnSpc>
                <a:spcPct val="150000"/>
              </a:lnSpc>
            </a:pPr>
            <a:r>
              <a:rPr lang="es-MX" dirty="0"/>
              <a:t>5. COMUNICACIÓN</a:t>
            </a:r>
          </a:p>
          <a:p>
            <a:pPr>
              <a:lnSpc>
                <a:spcPct val="150000"/>
              </a:lnSpc>
            </a:pPr>
            <a:r>
              <a:rPr lang="es-MX" dirty="0"/>
              <a:t>6. SENSACIONES QUE TRANSMITE</a:t>
            </a:r>
          </a:p>
          <a:p>
            <a:pPr>
              <a:lnSpc>
                <a:spcPct val="150000"/>
              </a:lnSpc>
            </a:pPr>
            <a:endParaRPr lang="es-MX" dirty="0"/>
          </a:p>
          <a:p>
            <a:pPr>
              <a:lnSpc>
                <a:spcPct val="150000"/>
              </a:lnSpc>
            </a:pPr>
            <a:endParaRPr lang="es-MX" dirty="0"/>
          </a:p>
        </p:txBody>
      </p:sp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285CC53-A7AE-E6DE-42E7-7581A60A0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59D119-9B03-B05E-56C2-B99164695DD6}"/>
              </a:ext>
            </a:extLst>
          </p:cNvPr>
          <p:cNvSpPr txBox="1"/>
          <p:nvPr/>
        </p:nvSpPr>
        <p:spPr>
          <a:xfrm>
            <a:off x="5767527" y="1332442"/>
            <a:ext cx="609600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7. LOGOTIPO</a:t>
            </a:r>
          </a:p>
          <a:p>
            <a:pPr>
              <a:lnSpc>
                <a:spcPct val="150000"/>
              </a:lnSpc>
            </a:pPr>
            <a:r>
              <a:rPr lang="es-MX" dirty="0"/>
              <a:t>7.1 LOGOTIPO</a:t>
            </a:r>
          </a:p>
          <a:p>
            <a:pPr>
              <a:lnSpc>
                <a:spcPct val="150000"/>
              </a:lnSpc>
            </a:pPr>
            <a:r>
              <a:rPr lang="es-MX" dirty="0"/>
              <a:t>8. PALETA CROMÁTICA</a:t>
            </a:r>
          </a:p>
          <a:p>
            <a:pPr>
              <a:lnSpc>
                <a:spcPct val="150000"/>
              </a:lnSpc>
            </a:pPr>
            <a:r>
              <a:rPr lang="es-MX" dirty="0"/>
              <a:t>9. TIPOGRAFÍAS</a:t>
            </a:r>
          </a:p>
          <a:p>
            <a:pPr>
              <a:lnSpc>
                <a:spcPct val="150000"/>
              </a:lnSpc>
            </a:pPr>
            <a:r>
              <a:rPr lang="es-MX" dirty="0"/>
              <a:t>10. APLICACIONES DIGITALES</a:t>
            </a:r>
          </a:p>
          <a:p>
            <a:pPr>
              <a:lnSpc>
                <a:spcPct val="150000"/>
              </a:lnSpc>
            </a:pPr>
            <a:r>
              <a:rPr lang="es-MX" dirty="0"/>
              <a:t>11. MERCHANDISING</a:t>
            </a:r>
          </a:p>
          <a:p>
            <a:pPr>
              <a:lnSpc>
                <a:spcPct val="150000"/>
              </a:lnSpc>
            </a:pPr>
            <a:r>
              <a:rPr lang="es-MX" dirty="0"/>
              <a:t>12. CONCLUSIÓN</a:t>
            </a:r>
          </a:p>
        </p:txBody>
      </p:sp>
    </p:spTree>
    <p:extLst>
      <p:ext uri="{BB962C8B-B14F-4D97-AF65-F5344CB8AC3E}">
        <p14:creationId xmlns:p14="http://schemas.microsoft.com/office/powerpoint/2010/main" val="4043017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4309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INTRODUCCI</a:t>
            </a:r>
            <a:r>
              <a:rPr lang="es-AR" sz="5400" dirty="0" err="1">
                <a:latin typeface="Impact" panose="020B0806030902050204" pitchFamily="34" charset="0"/>
              </a:rPr>
              <a:t>Ó</a:t>
            </a:r>
            <a:r>
              <a:rPr lang="es-ES" sz="5400" dirty="0">
                <a:latin typeface="Impact" panose="020B0806030902050204" pitchFamily="34" charset="0"/>
              </a:rPr>
              <a:t>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305C7A-0161-58F2-B9F0-02A99F6862AB}"/>
              </a:ext>
            </a:extLst>
          </p:cNvPr>
          <p:cNvSpPr txBox="1"/>
          <p:nvPr/>
        </p:nvSpPr>
        <p:spPr>
          <a:xfrm>
            <a:off x="328473" y="1332442"/>
            <a:ext cx="10635449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 El presente Manual Corporativo de Marca tiene como objetivo establecer las bases conceptuales, visuales y comunicacionales de </a:t>
            </a:r>
            <a:r>
              <a:rPr lang="es-MX" b="1" dirty="0"/>
              <a:t>ENCU$FINANCE</a:t>
            </a:r>
            <a:r>
              <a:rPr lang="es-MX" dirty="0"/>
              <a:t>, una marca perteneciente al rubro financiero. </a:t>
            </a:r>
            <a:br>
              <a:rPr lang="es-MX" dirty="0"/>
            </a:br>
            <a:r>
              <a:rPr lang="es-MX" dirty="0"/>
              <a:t> Este documento funciona como una guía que regula el uso correcto de la identidad visual y verbal de la marca, asegurando coherencia, profesionalismo y reconocimiento en todas sus aplicaciones.</a:t>
            </a:r>
          </a:p>
          <a:p>
            <a:pPr>
              <a:lnSpc>
                <a:spcPct val="150000"/>
              </a:lnSpc>
            </a:pPr>
            <a:r>
              <a:rPr lang="es-MX" dirty="0"/>
              <a:t>El manual está diseñado tanto desde una perspectiva académica como profesional, reflejando un proceso creativo real, fundamentado y alineado con los valores de la marca.</a:t>
            </a:r>
          </a:p>
        </p:txBody>
      </p:sp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285CC53-A7AE-E6DE-42E7-7581A60A0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7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8786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HISTORIA Y ORIGEN DEL NOMBRE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9CDB959-57D5-B29B-1E42-D46F2136EC81}"/>
              </a:ext>
            </a:extLst>
          </p:cNvPr>
          <p:cNvSpPr txBox="1"/>
          <p:nvPr/>
        </p:nvSpPr>
        <p:spPr>
          <a:xfrm>
            <a:off x="341927" y="1117565"/>
            <a:ext cx="10564427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El nombre </a:t>
            </a:r>
            <a:r>
              <a:rPr lang="es-MX" b="1" dirty="0"/>
              <a:t>ENCU$FINANCE</a:t>
            </a:r>
            <a:r>
              <a:rPr lang="es-MX" dirty="0"/>
              <a:t> surge a partir de una construcción conceptual que combina identidad personal, adaptación lingüística y posicionamiento internacional.</a:t>
            </a:r>
          </a:p>
          <a:p>
            <a:pPr>
              <a:lnSpc>
                <a:spcPct val="150000"/>
              </a:lnSpc>
            </a:pPr>
            <a:r>
              <a:rPr lang="es-MX" dirty="0"/>
              <a:t>Originalmente, el nombre estaba pensado como </a:t>
            </a:r>
            <a:r>
              <a:rPr lang="es-MX" b="1" dirty="0" err="1"/>
              <a:t>Encuso</a:t>
            </a:r>
            <a:r>
              <a:rPr lang="es-MX" b="1" dirty="0"/>
              <a:t> </a:t>
            </a:r>
            <a:r>
              <a:rPr lang="es-MX" b="1" dirty="0" err="1"/>
              <a:t>Finance</a:t>
            </a:r>
            <a:r>
              <a:rPr lang="es-MX" dirty="0"/>
              <a:t>, donde: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EN</a:t>
            </a:r>
            <a:r>
              <a:rPr lang="es-MX" dirty="0"/>
              <a:t> corresponde a </a:t>
            </a:r>
            <a:r>
              <a:rPr lang="es-MX" i="1" dirty="0"/>
              <a:t>Enzo</a:t>
            </a:r>
            <a:endParaRPr lang="es-MX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CU</a:t>
            </a:r>
            <a:r>
              <a:rPr lang="es-MX" dirty="0"/>
              <a:t> corresponde a </a:t>
            </a:r>
            <a:r>
              <a:rPr lang="es-MX" i="1" dirty="0"/>
              <a:t>Cura</a:t>
            </a:r>
            <a:endParaRPr lang="es-MX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SO</a:t>
            </a:r>
            <a:r>
              <a:rPr lang="es-MX" dirty="0"/>
              <a:t> corresponde a </a:t>
            </a:r>
            <a:r>
              <a:rPr lang="es-MX" i="1" dirty="0"/>
              <a:t>Sotelo</a:t>
            </a:r>
            <a:endParaRPr lang="es-MX" dirty="0"/>
          </a:p>
          <a:p>
            <a:pPr>
              <a:lnSpc>
                <a:spcPct val="150000"/>
              </a:lnSpc>
            </a:pPr>
            <a:r>
              <a:rPr lang="es-MX" dirty="0"/>
              <a:t>Sin embargo, para lograr una mejor sonoridad, mayor impacto visual y una adaptación más sólida al idioma inglés, se decidió modificar el nombre a </a:t>
            </a:r>
            <a:r>
              <a:rPr lang="es-MX" b="1" dirty="0"/>
              <a:t>ENCUS</a:t>
            </a:r>
            <a:r>
              <a:rPr lang="es-MX" dirty="0"/>
              <a:t>, manteniendo el término </a:t>
            </a:r>
            <a:r>
              <a:rPr lang="es-MX" b="1" dirty="0"/>
              <a:t>FINANCE</a:t>
            </a:r>
            <a:r>
              <a:rPr lang="es-MX" dirty="0"/>
              <a:t> en inglés para reforzar el carácter financiero, profesional y moderno de la marca. </a:t>
            </a:r>
            <a:br>
              <a:rPr lang="es-MX" dirty="0"/>
            </a:br>
            <a:r>
              <a:rPr lang="es-MX" dirty="0"/>
              <a:t>De esta manera, ENCU$FINANCE representa tanto el origen personal del proyecto como su proyección profesional.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1F0F923-66CB-19EB-5FC8-F354026B1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01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59362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IDENTIDAD DE MARCA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9CDB959-57D5-B29B-1E42-D46F2136EC81}"/>
              </a:ext>
            </a:extLst>
          </p:cNvPr>
          <p:cNvSpPr txBox="1"/>
          <p:nvPr/>
        </p:nvSpPr>
        <p:spPr>
          <a:xfrm>
            <a:off x="399494" y="1215219"/>
            <a:ext cx="10564427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b="1" dirty="0"/>
              <a:t>RUBRO</a:t>
            </a:r>
          </a:p>
          <a:p>
            <a:pPr>
              <a:lnSpc>
                <a:spcPct val="150000"/>
              </a:lnSpc>
            </a:pPr>
            <a:r>
              <a:rPr lang="es-MX" dirty="0"/>
              <a:t>ENCU$FINANCE pertenece al rubro </a:t>
            </a:r>
            <a:r>
              <a:rPr lang="es-MX" b="1" dirty="0"/>
              <a:t>financiero</a:t>
            </a:r>
            <a:r>
              <a:rPr lang="es-MX" dirty="0"/>
              <a:t>, orientado a la gestión y otorgamiento de créditos.</a:t>
            </a:r>
            <a:br>
              <a:rPr lang="es-MX" dirty="0"/>
            </a:br>
            <a:r>
              <a:rPr lang="es-MX" sz="2400" b="1" dirty="0"/>
              <a:t>OBJETIVO</a:t>
            </a:r>
          </a:p>
          <a:p>
            <a:pPr>
              <a:lnSpc>
                <a:spcPct val="150000"/>
              </a:lnSpc>
            </a:pPr>
            <a:r>
              <a:rPr lang="es-MX" dirty="0"/>
              <a:t>Brindar soluciones financieras ágiles, seguras y confiables, ofreciendo créditos tanto a personas físicas como a comercios y pequeñas empresas.</a:t>
            </a:r>
          </a:p>
          <a:p>
            <a:pPr>
              <a:lnSpc>
                <a:spcPct val="150000"/>
              </a:lnSpc>
            </a:pPr>
            <a:r>
              <a:rPr lang="es-MX" sz="2400" b="1" dirty="0"/>
              <a:t>PÚBLICO OBJETIVO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 Personas comunes (empleados, jubilados, trabajadores independientes)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 Comercios y pymes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EC16389-1E7D-4F59-7A1C-7419B1896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0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7859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PERSONALIDAD DE LA MARCA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D2AC0A-C5C5-822F-8E4D-B203E18630FF}"/>
              </a:ext>
            </a:extLst>
          </p:cNvPr>
          <p:cNvSpPr txBox="1"/>
          <p:nvPr/>
        </p:nvSpPr>
        <p:spPr>
          <a:xfrm>
            <a:off x="399495" y="1194172"/>
            <a:ext cx="10455675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dirty="0"/>
              <a:t>ENCU$FINANCE se define como una marca: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Seria</a:t>
            </a:r>
            <a:r>
              <a:rPr lang="es-MX" sz="2400" dirty="0"/>
              <a:t>, por el manejo responsable del dinero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Confiable</a:t>
            </a:r>
            <a:r>
              <a:rPr lang="es-MX" sz="2400" dirty="0"/>
              <a:t>, priorizando la transparencia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Moderna</a:t>
            </a:r>
            <a:r>
              <a:rPr lang="es-MX" sz="2400" dirty="0"/>
              <a:t>, con una estética actual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Profesional</a:t>
            </a:r>
            <a:r>
              <a:rPr lang="es-MX" sz="2400" dirty="0"/>
              <a:t>, basada en conocimientos financieros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Joven</a:t>
            </a:r>
            <a:r>
              <a:rPr lang="es-MX" sz="2400" dirty="0"/>
              <a:t>, dinámica y cercana al usuario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F34E4409-DC97-1536-1D2D-F6B18BD78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806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7859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PERSONALIDAD DE LA MARCA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D2AC0A-C5C5-822F-8E4D-B203E18630FF}"/>
              </a:ext>
            </a:extLst>
          </p:cNvPr>
          <p:cNvSpPr txBox="1"/>
          <p:nvPr/>
        </p:nvSpPr>
        <p:spPr>
          <a:xfrm>
            <a:off x="399495" y="1194172"/>
            <a:ext cx="10455675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dirty="0"/>
              <a:t>ENCU$FINANCE se define como una marca: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Seria</a:t>
            </a:r>
            <a:r>
              <a:rPr lang="es-MX" sz="2400" dirty="0"/>
              <a:t>, por el manejo responsable del dinero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Confiable</a:t>
            </a:r>
            <a:r>
              <a:rPr lang="es-MX" sz="2400" dirty="0"/>
              <a:t>, priorizando la transparencia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Moderna</a:t>
            </a:r>
            <a:r>
              <a:rPr lang="es-MX" sz="2400" dirty="0"/>
              <a:t>, con una estética actual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Profesional</a:t>
            </a:r>
            <a:r>
              <a:rPr lang="es-MX" sz="2400" dirty="0"/>
              <a:t>, basada en conocimientos financieros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b="1" dirty="0"/>
              <a:t>Joven</a:t>
            </a:r>
            <a:r>
              <a:rPr lang="es-MX" sz="2400" dirty="0"/>
              <a:t>, dinámica y cercana al usuario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1307FFB-7A65-9C83-2CC9-DE4624E9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51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99495" y="177500"/>
            <a:ext cx="68307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TONO DE COMUNICACIÓN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7057C0-E760-CFD5-71E1-334997B18DDB}"/>
              </a:ext>
            </a:extLst>
          </p:cNvPr>
          <p:cNvSpPr txBox="1"/>
          <p:nvPr/>
        </p:nvSpPr>
        <p:spPr>
          <a:xfrm>
            <a:off x="399495" y="1285942"/>
            <a:ext cx="10695373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El tono de comunicación de ENCU$FINANCE es </a:t>
            </a:r>
            <a:r>
              <a:rPr lang="es-MX" b="1" dirty="0"/>
              <a:t>formal pero cercano</a:t>
            </a:r>
            <a:r>
              <a:rPr lang="es-MX" dirty="0"/>
              <a:t>, utilizando un lenguaje </a:t>
            </a:r>
            <a:r>
              <a:rPr lang="es-MX" b="1" dirty="0"/>
              <a:t>técnico y financiero</a:t>
            </a:r>
            <a:r>
              <a:rPr lang="es-MX" dirty="0"/>
              <a:t>, evitando tecnicismos excesivos que puedan dificultar la comprensión del usuario.</a:t>
            </a:r>
          </a:p>
          <a:p>
            <a:pPr>
              <a:lnSpc>
                <a:spcPct val="150000"/>
              </a:lnSpc>
            </a:pPr>
            <a:r>
              <a:rPr lang="es-MX" dirty="0"/>
              <a:t>Este tono permite generar confianza sin perder accesibilidad.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EE5AB4E-A2AE-B8BA-0927-2D9374B05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9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28474" y="269833"/>
            <a:ext cx="98965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800" dirty="0">
                <a:latin typeface="Impact" panose="020B0806030902050204" pitchFamily="34" charset="0"/>
              </a:rPr>
              <a:t>SENSACIONES QUE TRANSMITE LA MARCA</a:t>
            </a:r>
            <a:endParaRPr lang="es-ES" sz="4800" dirty="0"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75022C4-6844-DDA4-58D3-63A603222366}"/>
              </a:ext>
            </a:extLst>
          </p:cNvPr>
          <p:cNvSpPr txBox="1"/>
          <p:nvPr/>
        </p:nvSpPr>
        <p:spPr>
          <a:xfrm>
            <a:off x="399494" y="1337814"/>
            <a:ext cx="10564427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La marca debe generar en el usuario: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Seguridad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Confianza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/>
              <a:t>Rapidez</a:t>
            </a:r>
          </a:p>
          <a:p>
            <a:pPr>
              <a:lnSpc>
                <a:spcPct val="150000"/>
              </a:lnSpc>
            </a:pPr>
            <a:r>
              <a:rPr lang="es-MX" i="1" dirty="0"/>
              <a:t>Estos valores se reflejan tanto en la comunicación como en la identidad visual.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0420B45-EB4C-2C39-29B6-4FAD942AD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3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28474" y="269833"/>
            <a:ext cx="28191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LOGOTIPO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6266DB-9FB7-8081-B29A-F3329B142C08}"/>
              </a:ext>
            </a:extLst>
          </p:cNvPr>
          <p:cNvSpPr txBox="1"/>
          <p:nvPr/>
        </p:nvSpPr>
        <p:spPr>
          <a:xfrm>
            <a:off x="399494" y="1265041"/>
            <a:ext cx="10564427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El logotipo de ENCU$FINANCE es el principal identificador visual de la marca. Su diseño busca transmitir solidez, profesionalismo y modernidad.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E2E2E6-1C3E-56DF-8497-0C8511C62B21}"/>
              </a:ext>
            </a:extLst>
          </p:cNvPr>
          <p:cNvSpPr txBox="1"/>
          <p:nvPr/>
        </p:nvSpPr>
        <p:spPr>
          <a:xfrm>
            <a:off x="399494" y="2343150"/>
            <a:ext cx="10564427" cy="1760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EVOLUCIÓN DEL LOGOTIPO</a:t>
            </a:r>
          </a:p>
          <a:p>
            <a:pPr>
              <a:lnSpc>
                <a:spcPct val="150000"/>
              </a:lnSpc>
            </a:pPr>
            <a:r>
              <a:rPr lang="es-MX" dirty="0"/>
              <a:t>Los primeros bocetos del logotipo fueron realizados de forma manual, explorando conceptos como dirección, movimiento, estructura y estabilidad. Estos bocetos permitieron definir el rumbo conceptual antes de llegar al diseño final.</a:t>
            </a:r>
          </a:p>
        </p:txBody>
      </p:sp>
      <p:pic>
        <p:nvPicPr>
          <p:cNvPr id="2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2E81D4F4-3C2E-760D-F075-40F8C6CBB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9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28474" y="269833"/>
            <a:ext cx="28191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LOGOTIPO</a:t>
            </a:r>
            <a:endParaRPr lang="es-ES" sz="5400" dirty="0">
              <a:latin typeface="Impact" panose="020B0806030902050204" pitchFamily="34" charset="0"/>
            </a:endParaRPr>
          </a:p>
        </p:txBody>
      </p:sp>
      <p:pic>
        <p:nvPicPr>
          <p:cNvPr id="9" name="Imagen 8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A55B5CC0-27CE-7335-9D2A-0EA4BE2D6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962" y="1468226"/>
            <a:ext cx="3138442" cy="2272686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21302BB1-A92B-ED28-509F-4092B3BF7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23" b="19742"/>
          <a:stretch/>
        </p:blipFill>
        <p:spPr>
          <a:xfrm>
            <a:off x="8285792" y="1682413"/>
            <a:ext cx="3138442" cy="1730010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  <p:pic>
        <p:nvPicPr>
          <p:cNvPr id="13" name="Imagen 1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733295E-00E7-7995-D895-52810DE2A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2" b="14741"/>
          <a:stretch/>
        </p:blipFill>
        <p:spPr>
          <a:xfrm>
            <a:off x="4041275" y="4227860"/>
            <a:ext cx="3319176" cy="2035935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730822957">
                  <a:custGeom>
                    <a:avLst/>
                    <a:gdLst>
                      <a:gd name="connsiteX0" fmla="*/ 0 w 2748851"/>
                      <a:gd name="connsiteY0" fmla="*/ 0 h 2748851"/>
                      <a:gd name="connsiteX1" fmla="*/ 2748851 w 2748851"/>
                      <a:gd name="connsiteY1" fmla="*/ 0 h 2748851"/>
                      <a:gd name="connsiteX2" fmla="*/ 2748851 w 2748851"/>
                      <a:gd name="connsiteY2" fmla="*/ 2748851 h 2748851"/>
                      <a:gd name="connsiteX3" fmla="*/ 0 w 2748851"/>
                      <a:gd name="connsiteY3" fmla="*/ 2748851 h 2748851"/>
                      <a:gd name="connsiteX4" fmla="*/ 0 w 2748851"/>
                      <a:gd name="connsiteY4" fmla="*/ 0 h 27488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48851" h="2748851" fill="none" extrusionOk="0">
                        <a:moveTo>
                          <a:pt x="0" y="0"/>
                        </a:moveTo>
                        <a:cubicBezTo>
                          <a:pt x="329455" y="155614"/>
                          <a:pt x="2447548" y="161946"/>
                          <a:pt x="2748851" y="0"/>
                        </a:cubicBezTo>
                        <a:cubicBezTo>
                          <a:pt x="2659294" y="852763"/>
                          <a:pt x="2734968" y="2188649"/>
                          <a:pt x="2748851" y="2748851"/>
                        </a:cubicBezTo>
                        <a:cubicBezTo>
                          <a:pt x="2134436" y="2623609"/>
                          <a:pt x="1147890" y="2812768"/>
                          <a:pt x="0" y="2748851"/>
                        </a:cubicBezTo>
                        <a:cubicBezTo>
                          <a:pt x="-44906" y="1635650"/>
                          <a:pt x="135520" y="589447"/>
                          <a:pt x="0" y="0"/>
                        </a:cubicBezTo>
                        <a:close/>
                      </a:path>
                      <a:path w="2748851" h="2748851" stroke="0" extrusionOk="0">
                        <a:moveTo>
                          <a:pt x="0" y="0"/>
                        </a:moveTo>
                        <a:cubicBezTo>
                          <a:pt x="804045" y="8754"/>
                          <a:pt x="1900100" y="-17534"/>
                          <a:pt x="2748851" y="0"/>
                        </a:cubicBezTo>
                        <a:cubicBezTo>
                          <a:pt x="2755461" y="984083"/>
                          <a:pt x="2771648" y="1595154"/>
                          <a:pt x="2748851" y="2748851"/>
                        </a:cubicBezTo>
                        <a:cubicBezTo>
                          <a:pt x="1620081" y="2666838"/>
                          <a:pt x="1269631" y="2584935"/>
                          <a:pt x="0" y="2748851"/>
                        </a:cubicBezTo>
                        <a:cubicBezTo>
                          <a:pt x="-117695" y="2426147"/>
                          <a:pt x="123602" y="5892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4164DDD-9A52-3815-84CD-4CE8834A2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  <p:pic>
        <p:nvPicPr>
          <p:cNvPr id="12" name="Imagen 11" descr="Imagen que contiene pizarrón, interior, con baldosas, pequeño&#10;&#10;El contenido generado por IA puede ser incorrecto.">
            <a:extLst>
              <a:ext uri="{FF2B5EF4-FFF2-40B4-BE49-F238E27FC236}">
                <a16:creationId xmlns:a16="http://schemas.microsoft.com/office/drawing/2014/main" id="{877E7077-8D7F-A0AE-1ECA-976326CC14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45" y="1468225"/>
            <a:ext cx="3319177" cy="2272687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879B4C1-206A-76A7-A177-B46D8AEE3E14}"/>
              </a:ext>
            </a:extLst>
          </p:cNvPr>
          <p:cNvSpPr/>
          <p:nvPr/>
        </p:nvSpPr>
        <p:spPr>
          <a:xfrm>
            <a:off x="3712179" y="2547418"/>
            <a:ext cx="383571" cy="233855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C85BDDA4-259F-7832-C0DF-24A980D2C350}"/>
              </a:ext>
            </a:extLst>
          </p:cNvPr>
          <p:cNvSpPr/>
          <p:nvPr/>
        </p:nvSpPr>
        <p:spPr>
          <a:xfrm>
            <a:off x="7613188" y="2487640"/>
            <a:ext cx="383571" cy="233855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7A2062CD-2611-FFDE-C176-FF2EBF69BBD8}"/>
              </a:ext>
            </a:extLst>
          </p:cNvPr>
          <p:cNvSpPr/>
          <p:nvPr/>
        </p:nvSpPr>
        <p:spPr>
          <a:xfrm rot="8669585">
            <a:off x="7543120" y="4185784"/>
            <a:ext cx="1485344" cy="273418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676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12224" y="244348"/>
            <a:ext cx="53694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PALETA CROMÁTICA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D1B860-41C1-C2DF-289C-CB541222A11A}"/>
              </a:ext>
            </a:extLst>
          </p:cNvPr>
          <p:cNvSpPr txBox="1"/>
          <p:nvPr/>
        </p:nvSpPr>
        <p:spPr>
          <a:xfrm>
            <a:off x="399495" y="1278211"/>
            <a:ext cx="10564427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Los colores institucionales de ENCU$FINANCE son: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Negro / Azul oscuro:</a:t>
            </a:r>
            <a:r>
              <a:rPr lang="es-MX" dirty="0"/>
              <a:t> representa seriedad, respaldo y profesionalismo.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Blanco:</a:t>
            </a:r>
            <a:r>
              <a:rPr lang="es-MX" dirty="0"/>
              <a:t> simboliza claridad, transparencia y orden.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b="1" dirty="0"/>
              <a:t>Naranja:</a:t>
            </a:r>
            <a:r>
              <a:rPr lang="es-MX" dirty="0"/>
              <a:t> aporta dinamismo, energía y rapidez, reforzando el carácter joven de la marca.</a:t>
            </a:r>
          </a:p>
          <a:p>
            <a:pPr>
              <a:lnSpc>
                <a:spcPct val="150000"/>
              </a:lnSpc>
            </a:pPr>
            <a:r>
              <a:rPr lang="es-MX" i="1" dirty="0"/>
              <a:t>Estos colores deben respetarse en todas las aplicaciones oficiales.</a:t>
            </a:r>
          </a:p>
        </p:txBody>
      </p:sp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B415D86-C325-10A3-A571-B05C4A7A9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0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12224" y="244348"/>
            <a:ext cx="3717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TIPOGRAFIAS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82D7E4-D59D-F022-7008-7B97B5580EB6}"/>
              </a:ext>
            </a:extLst>
          </p:cNvPr>
          <p:cNvSpPr txBox="1"/>
          <p:nvPr/>
        </p:nvSpPr>
        <p:spPr>
          <a:xfrm>
            <a:off x="399495" y="1217877"/>
            <a:ext cx="7945516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b="1" dirty="0"/>
              <a:t>Tipografía principal – Montserrat</a:t>
            </a:r>
          </a:p>
          <a:p>
            <a:pPr>
              <a:lnSpc>
                <a:spcPct val="150000"/>
              </a:lnSpc>
            </a:pPr>
            <a:r>
              <a:rPr lang="es-MX" dirty="0"/>
              <a:t>Se utiliza para títulos, encabezados y elementos destacados.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Justificación:</a:t>
            </a:r>
            <a:r>
              <a:rPr lang="es-MX" dirty="0"/>
              <a:t> Montserrat es una tipografía geométrica, moderna y sólida, que transmite estabilidad, orden y profesionalismo, valores fundamentales en una marca financiera.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Tipografía secundaria – Poppins</a:t>
            </a:r>
          </a:p>
          <a:p>
            <a:pPr>
              <a:lnSpc>
                <a:spcPct val="150000"/>
              </a:lnSpc>
            </a:pPr>
            <a:r>
              <a:rPr lang="es-MX" dirty="0"/>
              <a:t>Se utiliza para textos corridos, formularios y contenido informativo.</a:t>
            </a:r>
          </a:p>
          <a:p>
            <a:pPr>
              <a:lnSpc>
                <a:spcPct val="150000"/>
              </a:lnSpc>
            </a:pPr>
            <a:r>
              <a:rPr lang="es-MX" b="1" dirty="0"/>
              <a:t>Justificación:</a:t>
            </a:r>
            <a:r>
              <a:rPr lang="es-MX" dirty="0"/>
              <a:t> Poppins es una tipografía limpia y altamente legible, que aporta cercanía y claridad sin perder formalidad.</a:t>
            </a:r>
          </a:p>
          <a:p>
            <a:pPr>
              <a:lnSpc>
                <a:spcPct val="150000"/>
              </a:lnSpc>
            </a:pPr>
            <a:r>
              <a:rPr lang="es-MX" i="1" dirty="0"/>
              <a:t>La combinación de ambas tipografías equilibra lo técnico con lo humano.</a:t>
            </a:r>
          </a:p>
        </p:txBody>
      </p:sp>
      <p:pic>
        <p:nvPicPr>
          <p:cNvPr id="1028" name="Picture 4" descr="Tipografía Poppins: qué es, características y para qué se utiliza en diseño">
            <a:extLst>
              <a:ext uri="{FF2B5EF4-FFF2-40B4-BE49-F238E27FC236}">
                <a16:creationId xmlns:a16="http://schemas.microsoft.com/office/drawing/2014/main" id="{436087C1-4C93-C529-D752-B578885E9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6" r="24216"/>
          <a:stretch/>
        </p:blipFill>
        <p:spPr bwMode="auto">
          <a:xfrm>
            <a:off x="8641671" y="3394962"/>
            <a:ext cx="2109187" cy="2030285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ONTSERRAT">
            <a:extLst>
              <a:ext uri="{FF2B5EF4-FFF2-40B4-BE49-F238E27FC236}">
                <a16:creationId xmlns:a16="http://schemas.microsoft.com/office/drawing/2014/main" id="{FB632DC4-3FA0-2FA6-6F46-3FDAAFCF2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671" y="1319813"/>
            <a:ext cx="2109187" cy="2109187"/>
          </a:xfrm>
          <a:prstGeom prst="rect">
            <a:avLst/>
          </a:pr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3297A1B-F34B-FF6B-C263-97BF54EDD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44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12224" y="244348"/>
            <a:ext cx="6895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5400" dirty="0">
                <a:latin typeface="Impact" panose="020B0806030902050204" pitchFamily="34" charset="0"/>
              </a:rPr>
              <a:t>APLICACIONES DIGITALES</a:t>
            </a:r>
            <a:endParaRPr lang="es-ES" sz="5400" dirty="0"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9EDA86-3A14-F61F-3AEF-0C07B08A15B5}"/>
              </a:ext>
            </a:extLst>
          </p:cNvPr>
          <p:cNvSpPr txBox="1"/>
          <p:nvPr/>
        </p:nvSpPr>
        <p:spPr>
          <a:xfrm>
            <a:off x="312224" y="1167678"/>
            <a:ext cx="10564427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La identidad visual de ENCU$FINANCE se aplica en su sitio web, formularios digitales y redes sociales, manteniendo coherencia cromática, tipográfica y conceptual.</a:t>
            </a:r>
          </a:p>
          <a:p>
            <a:pPr>
              <a:lnSpc>
                <a:spcPct val="150000"/>
              </a:lnSpc>
            </a:pPr>
            <a:r>
              <a:rPr lang="es-MX" dirty="0"/>
              <a:t>El diseño web refuerza la confianza del usuario y facilita la interacción.</a:t>
            </a:r>
          </a:p>
        </p:txBody>
      </p:sp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592BD66-E85F-9166-F860-9F32924A9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95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12224" y="244348"/>
            <a:ext cx="8659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MERCHANDISING CORPORATIVO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E984A35-84F5-EBC8-25FC-5A2EEB1A7F48}"/>
              </a:ext>
            </a:extLst>
          </p:cNvPr>
          <p:cNvSpPr txBox="1"/>
          <p:nvPr/>
        </p:nvSpPr>
        <p:spPr>
          <a:xfrm>
            <a:off x="399495" y="1332442"/>
            <a:ext cx="105644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El </a:t>
            </a:r>
            <a:r>
              <a:rPr lang="es-MX" dirty="0" err="1"/>
              <a:t>merchandising</a:t>
            </a:r>
            <a:r>
              <a:rPr lang="es-MX" dirty="0"/>
              <a:t> de ENCU$FINANCE tiene como objetivo reforzar la identidad de marca y aumentar su reconocimiento.</a:t>
            </a:r>
          </a:p>
          <a:p>
            <a:r>
              <a:rPr lang="es-MX" dirty="0"/>
              <a:t>Algunas aplicaciones incluyen: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Remeras corporativas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Buzos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Tazas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Carpetas institucionales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Tarjetas personales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Bolsas y </a:t>
            </a:r>
            <a:r>
              <a:rPr lang="es-MX" dirty="0" err="1"/>
              <a:t>stickers</a:t>
            </a:r>
            <a:endParaRPr lang="es-MX" dirty="0"/>
          </a:p>
          <a:p>
            <a:r>
              <a:rPr lang="es-MX" i="1" dirty="0"/>
              <a:t>Todos los elementos respetan la paleta cromática institucional y el logotipo oficial.</a:t>
            </a:r>
          </a:p>
        </p:txBody>
      </p:sp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C40E6C2-4E94-5103-9AE5-4E794D24B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8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12224" y="244348"/>
            <a:ext cx="8659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MERCHANDISING CORPORATIVO</a:t>
            </a:r>
          </a:p>
        </p:txBody>
      </p:sp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11A7198-6785-D544-5875-90C8536FE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95" y="1327150"/>
            <a:ext cx="7267575" cy="4845050"/>
          </a:xfrm>
          <a:prstGeom prst="rect">
            <a:avLst/>
          </a:prstGeom>
        </p:spPr>
      </p:pic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1199BC5-A2EF-1862-869F-EC0E7CC0C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03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6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9DC764-B935-46B1-CA6C-ED115408BD54}"/>
              </a:ext>
            </a:extLst>
          </p:cNvPr>
          <p:cNvCxnSpPr>
            <a:cxnSpLocks/>
          </p:cNvCxnSpPr>
          <p:nvPr/>
        </p:nvCxnSpPr>
        <p:spPr>
          <a:xfrm>
            <a:off x="399495" y="1100830"/>
            <a:ext cx="10564427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B893CEC9-73B7-8809-3A65-75222D2FFE62}"/>
              </a:ext>
            </a:extLst>
          </p:cNvPr>
          <p:cNvSpPr txBox="1"/>
          <p:nvPr/>
        </p:nvSpPr>
        <p:spPr>
          <a:xfrm>
            <a:off x="312224" y="244348"/>
            <a:ext cx="3655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CONCLUSIÓN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8796C4-9503-BB1B-8F1B-12E304560E21}"/>
              </a:ext>
            </a:extLst>
          </p:cNvPr>
          <p:cNvSpPr txBox="1"/>
          <p:nvPr/>
        </p:nvSpPr>
        <p:spPr>
          <a:xfrm>
            <a:off x="312224" y="1167678"/>
            <a:ext cx="10651698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/>
              <a:t>El presente Manual Corporativo de Marca establece las bases para el uso correcto y coherente de la identidad de ENCU$FINANCE. </a:t>
            </a:r>
          </a:p>
          <a:p>
            <a:pPr>
              <a:lnSpc>
                <a:spcPct val="150000"/>
              </a:lnSpc>
            </a:pPr>
            <a:r>
              <a:rPr lang="es-MX" dirty="0"/>
              <a:t>Su correcta aplicación garantiza una imagen profesional, confiable y consistente, fortaleciendo el posicionamiento de la marca dentro del rubro financiero.</a:t>
            </a:r>
            <a:endParaRPr lang="es-ES" dirty="0"/>
          </a:p>
        </p:txBody>
      </p:sp>
      <p:pic>
        <p:nvPicPr>
          <p:cNvPr id="3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D66944A-704F-5609-DE2A-021590E26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24" y="4485381"/>
            <a:ext cx="2909781" cy="290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9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2885</TotalTime>
  <Words>845</Words>
  <Application>Microsoft Office PowerPoint</Application>
  <PresentationFormat>Panorámica</PresentationFormat>
  <Paragraphs>92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Impact</vt:lpstr>
      <vt:lpstr>Office Theme</vt:lpstr>
      <vt:lpstr>MANUAL CORPORATIVO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encuso1999@gmail.com</dc:creator>
  <cp:lastModifiedBy>encuso1999@gmail.com</cp:lastModifiedBy>
  <cp:revision>4</cp:revision>
  <dcterms:created xsi:type="dcterms:W3CDTF">2026-03-01T00:18:55Z</dcterms:created>
  <dcterms:modified xsi:type="dcterms:W3CDTF">2026-03-06T21:32:44Z</dcterms:modified>
</cp:coreProperties>
</file>